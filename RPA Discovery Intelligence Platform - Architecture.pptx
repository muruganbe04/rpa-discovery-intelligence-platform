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3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357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Discovery Intelligence Platform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AI Solution for Automation Portfolio Discovery,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Assessment &amp; Migration Readiness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91840" y="3657600"/>
            <a:ext cx="2560320" cy="384048"/>
          </a:xfrm>
          <a:prstGeom prst="roundRect">
            <a:avLst>
              <a:gd name="adj" fmla="val 28571"/>
            </a:avLst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91840" y="36576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Prism  →  Microsoft Power Automate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Consulting Advantage — Agentic AI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1B7C6280-92B8-A573-AC2E-387A535F2005}"/>
              </a:ext>
            </a:extLst>
          </p:cNvPr>
          <p:cNvSpPr/>
          <p:nvPr/>
        </p:nvSpPr>
        <p:spPr>
          <a:xfrm>
            <a:off x="274319" y="621792"/>
            <a:ext cx="8595360" cy="4521708"/>
          </a:xfrm>
          <a:prstGeom prst="roundRect">
            <a:avLst/>
          </a:prstGeom>
          <a:ln>
            <a:solidFill>
              <a:schemeClr val="bg1"/>
            </a:solidFill>
            <a:prstDash val="dash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0" y="5401"/>
            <a:ext cx="9144000" cy="309629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Architecture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1226457" y="806451"/>
            <a:ext cx="6516914" cy="475488"/>
          </a:xfrm>
          <a:prstGeom prst="roundRect">
            <a:avLst>
              <a:gd name="adj" fmla="val 15385"/>
            </a:avLst>
          </a:prstGeom>
          <a:solidFill>
            <a:srgbClr val="EDF5FF"/>
          </a:solidFill>
          <a:ln w="12700">
            <a:solidFill>
              <a:srgbClr val="0043C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3732696" y="842517"/>
            <a:ext cx="130376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4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Layer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39427" y="1065276"/>
            <a:ext cx="4709716" cy="226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 ·  File upload  ·  Platform selection  ·  Results dashboard  ·  Config pages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226457" y="1536192"/>
            <a:ext cx="6516914" cy="475488"/>
          </a:xfrm>
          <a:prstGeom prst="roundRect">
            <a:avLst>
              <a:gd name="adj" fmla="val 15385"/>
            </a:avLst>
          </a:prstGeom>
          <a:solidFill>
            <a:srgbClr val="E1F5EE"/>
          </a:solidFill>
          <a:ln w="12700">
            <a:solidFill>
              <a:srgbClr val="0F6E5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784112" y="153749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5262" y="1820724"/>
            <a:ext cx="4751251" cy="160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analyze_bp_release()  ·  Sequential agent pipeline  ·  Progress tracking  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26457" y="3141330"/>
            <a:ext cx="6516914" cy="566928"/>
          </a:xfrm>
          <a:prstGeom prst="roundRect">
            <a:avLst>
              <a:gd name="adj" fmla="val 12903"/>
            </a:avLst>
          </a:prstGeom>
          <a:solidFill>
            <a:srgbClr val="FAECE7"/>
          </a:solidFill>
          <a:ln w="12700">
            <a:solidFill>
              <a:srgbClr val="993C1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240348" y="313528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309209" y="3390842"/>
            <a:ext cx="5454495" cy="180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BluePrismParser  ·  Extracts processes, objects, env vars from .bprelease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226456" y="4617575"/>
            <a:ext cx="6537247" cy="429768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12700">
            <a:solidFill>
              <a:srgbClr val="5F5E5A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009749" y="4604077"/>
            <a:ext cx="175622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02211" y="4796011"/>
            <a:ext cx="5203371" cy="221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ICA Agent API  (REST)  ·  Blue Prism .bprelease source  ·  .env configuration 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22715"/>
            <a:ext cx="8412479" cy="689283"/>
          </a:xfrm>
          <a:prstGeom prst="roundRect">
            <a:avLst>
              <a:gd name="adj" fmla="val 7843"/>
            </a:avLst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821022" y="2234036"/>
            <a:ext cx="4533537" cy="215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Layer  —  IBM ICA Agent  (Sequential Pipeline)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29968" y="2340864"/>
            <a:ext cx="1003518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Assessor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732696" y="2362832"/>
            <a:ext cx="1224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226457" y="3910733"/>
            <a:ext cx="6537247" cy="512064"/>
          </a:xfrm>
          <a:prstGeom prst="roundRect">
            <a:avLst>
              <a:gd name="adj" fmla="val 14286"/>
            </a:avLst>
          </a:prstGeom>
          <a:solidFill>
            <a:srgbClr val="FAEEDA"/>
          </a:solidFill>
          <a:ln w="12700">
            <a:solidFill>
              <a:srgbClr val="854F0B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598848" y="3896015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Data Layer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65978" y="4129715"/>
            <a:ext cx="1800000" cy="237744"/>
          </a:xfrm>
          <a:prstGeom prst="roundRect">
            <a:avLst>
              <a:gd name="adj" fmla="val 19231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pPr algn="ctr"/>
            <a:r>
              <a:rPr lang="en-IN" sz="900" dirty="0">
                <a:solidFill>
                  <a:schemeClr val="bg1"/>
                </a:solidFill>
              </a:rPr>
              <a:t>Migration Mapping (.xlsx file)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E0901203-B35B-16CE-A6E9-07168E49D1DB}"/>
              </a:ext>
            </a:extLst>
          </p:cNvPr>
          <p:cNvSpPr/>
          <p:nvPr/>
        </p:nvSpPr>
        <p:spPr>
          <a:xfrm>
            <a:off x="3570545" y="4129715"/>
            <a:ext cx="1800000" cy="237744"/>
          </a:xfrm>
          <a:prstGeom prst="roundRect">
            <a:avLst>
              <a:gd name="adj" fmla="val 19231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pPr algn="ctr"/>
            <a:r>
              <a:rPr lang="en-IN" sz="900" dirty="0">
                <a:solidFill>
                  <a:schemeClr val="bg1"/>
                </a:solidFill>
              </a:rPr>
              <a:t>Effort Matrix (.json file)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47" name="Shape 36">
            <a:extLst>
              <a:ext uri="{FF2B5EF4-FFF2-40B4-BE49-F238E27FC236}">
                <a16:creationId xmlns:a16="http://schemas.microsoft.com/office/drawing/2014/main" id="{93DAE4FF-B752-1BB2-1ED4-A8D254D27C98}"/>
              </a:ext>
            </a:extLst>
          </p:cNvPr>
          <p:cNvSpPr/>
          <p:nvPr/>
        </p:nvSpPr>
        <p:spPr>
          <a:xfrm>
            <a:off x="1455422" y="4126581"/>
            <a:ext cx="1800000" cy="237744"/>
          </a:xfrm>
          <a:prstGeom prst="roundRect">
            <a:avLst>
              <a:gd name="adj" fmla="val 19231"/>
            </a:avLst>
          </a:prstGeom>
          <a:solidFill>
            <a:srgbClr val="854F0B"/>
          </a:solidFill>
          <a:ln w="12700">
            <a:solidFill>
              <a:srgbClr val="854F0B"/>
            </a:solidFill>
            <a:prstDash val="solid"/>
          </a:ln>
        </p:spPr>
        <p:txBody>
          <a:bodyPr/>
          <a:lstStyle/>
          <a:p>
            <a:pPr algn="ctr"/>
            <a:r>
              <a:rPr lang="en-IN" sz="900" dirty="0">
                <a:solidFill>
                  <a:schemeClr val="bg1"/>
                </a:solidFill>
              </a:rPr>
              <a:t>Complexity Matrix (.xlsx file)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53" name="Shape 16">
            <a:extLst>
              <a:ext uri="{FF2B5EF4-FFF2-40B4-BE49-F238E27FC236}">
                <a16:creationId xmlns:a16="http://schemas.microsoft.com/office/drawing/2014/main" id="{DE93135F-BC70-3CFB-6CE0-3E38BC82C5F2}"/>
              </a:ext>
            </a:extLst>
          </p:cNvPr>
          <p:cNvSpPr/>
          <p:nvPr/>
        </p:nvSpPr>
        <p:spPr>
          <a:xfrm>
            <a:off x="7565978" y="2472195"/>
            <a:ext cx="1188000" cy="324000"/>
          </a:xfrm>
          <a:prstGeom prst="roundRect">
            <a:avLst>
              <a:gd name="adj" fmla="val 11290"/>
            </a:avLst>
          </a:prstGeom>
          <a:solidFill>
            <a:schemeClr val="accent4">
              <a:lumMod val="50000"/>
            </a:schemeClr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pPr algn="ctr"/>
            <a:r>
              <a:rPr lang="en-IN" sz="800" dirty="0">
                <a:solidFill>
                  <a:schemeClr val="bg1"/>
                </a:solidFill>
              </a:rPr>
              <a:t>Unified IBM ICA Agent</a:t>
            </a:r>
          </a:p>
          <a:p>
            <a:pPr algn="ctr"/>
            <a:r>
              <a:rPr lang="en-IN" sz="600" dirty="0">
                <a:solidFill>
                  <a:schemeClr val="bg1"/>
                </a:solidFill>
              </a:rPr>
              <a:t>Orchestrator Agent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D1A5FFE-D492-61F7-A903-AC09F86B9161}"/>
              </a:ext>
            </a:extLst>
          </p:cNvPr>
          <p:cNvGrpSpPr/>
          <p:nvPr/>
        </p:nvGrpSpPr>
        <p:grpSpPr>
          <a:xfrm>
            <a:off x="384048" y="2478747"/>
            <a:ext cx="7153391" cy="332907"/>
            <a:chOff x="384048" y="2340864"/>
            <a:chExt cx="7153391" cy="332907"/>
          </a:xfrm>
        </p:grpSpPr>
        <p:sp>
          <p:nvSpPr>
            <p:cNvPr id="18" name="Shape 16"/>
            <p:cNvSpPr/>
            <p:nvPr/>
          </p:nvSpPr>
          <p:spPr>
            <a:xfrm>
              <a:off x="384048" y="2340864"/>
              <a:ext cx="1188000" cy="324000"/>
            </a:xfrm>
            <a:prstGeom prst="roundRect">
              <a:avLst>
                <a:gd name="adj" fmla="val 11290"/>
              </a:avLst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IN" sz="800" dirty="0">
                  <a:solidFill>
                    <a:schemeClr val="bg1"/>
                  </a:solidFill>
                </a:rPr>
                <a:t>Prompt 1</a:t>
              </a:r>
            </a:p>
            <a:p>
              <a:pPr algn="ctr"/>
              <a:r>
                <a:rPr lang="en-IN" sz="800" dirty="0">
                  <a:solidFill>
                    <a:schemeClr val="bg1"/>
                  </a:solidFill>
                </a:rPr>
                <a:t>Process Analyzer</a:t>
              </a:r>
            </a:p>
          </p:txBody>
        </p:sp>
        <p:sp>
          <p:nvSpPr>
            <p:cNvPr id="20" name="Shape 18"/>
            <p:cNvSpPr/>
            <p:nvPr/>
          </p:nvSpPr>
          <p:spPr>
            <a:xfrm>
              <a:off x="1618488" y="2520864"/>
              <a:ext cx="182880" cy="0"/>
            </a:xfrm>
            <a:prstGeom prst="line">
              <a:avLst/>
            </a:prstGeom>
            <a:noFill/>
            <a:ln w="12700">
              <a:solidFill>
                <a:srgbClr val="534AB7"/>
              </a:solidFill>
              <a:prstDash val="solid"/>
              <a:tailEnd type="arrow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Shape 21"/>
            <p:cNvSpPr/>
            <p:nvPr/>
          </p:nvSpPr>
          <p:spPr>
            <a:xfrm>
              <a:off x="3072542" y="2542832"/>
              <a:ext cx="182880" cy="0"/>
            </a:xfrm>
            <a:prstGeom prst="line">
              <a:avLst/>
            </a:prstGeom>
            <a:noFill/>
            <a:ln w="12700">
              <a:solidFill>
                <a:srgbClr val="534AB7"/>
              </a:solidFill>
              <a:prstDash val="solid"/>
              <a:tailEnd type="arrow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Shape 24"/>
            <p:cNvSpPr/>
            <p:nvPr/>
          </p:nvSpPr>
          <p:spPr>
            <a:xfrm>
              <a:off x="4516845" y="2509013"/>
              <a:ext cx="182880" cy="0"/>
            </a:xfrm>
            <a:prstGeom prst="line">
              <a:avLst/>
            </a:prstGeom>
            <a:noFill/>
            <a:ln w="12700">
              <a:solidFill>
                <a:srgbClr val="534AB7"/>
              </a:solidFill>
              <a:prstDash val="solid"/>
              <a:tailEnd type="arrow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Shape 16">
              <a:extLst>
                <a:ext uri="{FF2B5EF4-FFF2-40B4-BE49-F238E27FC236}">
                  <a16:creationId xmlns:a16="http://schemas.microsoft.com/office/drawing/2014/main" id="{C1C4FDDB-C192-9577-ED5A-96B279E75DEC}"/>
                </a:ext>
              </a:extLst>
            </p:cNvPr>
            <p:cNvSpPr/>
            <p:nvPr/>
          </p:nvSpPr>
          <p:spPr>
            <a:xfrm>
              <a:off x="1830630" y="2349771"/>
              <a:ext cx="1188000" cy="324000"/>
            </a:xfrm>
            <a:prstGeom prst="roundRect">
              <a:avLst>
                <a:gd name="adj" fmla="val 11290"/>
              </a:avLst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IN" sz="800" dirty="0">
                  <a:solidFill>
                    <a:schemeClr val="bg1"/>
                  </a:solidFill>
                </a:rPr>
                <a:t>Prompt 2</a:t>
              </a:r>
            </a:p>
            <a:p>
              <a:pPr algn="ctr"/>
              <a:r>
                <a:rPr lang="en-IN" sz="800" dirty="0">
                  <a:solidFill>
                    <a:schemeClr val="bg1"/>
                  </a:solidFill>
                </a:rPr>
                <a:t>Complexity Assessment</a:t>
              </a:r>
            </a:p>
          </p:txBody>
        </p:sp>
        <p:sp>
          <p:nvSpPr>
            <p:cNvPr id="49" name="Shape 16">
              <a:extLst>
                <a:ext uri="{FF2B5EF4-FFF2-40B4-BE49-F238E27FC236}">
                  <a16:creationId xmlns:a16="http://schemas.microsoft.com/office/drawing/2014/main" id="{F553B6C2-A7BD-AC3B-38D5-F932FF835C66}"/>
                </a:ext>
              </a:extLst>
            </p:cNvPr>
            <p:cNvSpPr/>
            <p:nvPr/>
          </p:nvSpPr>
          <p:spPr>
            <a:xfrm>
              <a:off x="3289728" y="2349771"/>
              <a:ext cx="1188000" cy="324000"/>
            </a:xfrm>
            <a:prstGeom prst="roundRect">
              <a:avLst>
                <a:gd name="adj" fmla="val 11290"/>
              </a:avLst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IN" sz="800" dirty="0">
                  <a:solidFill>
                    <a:schemeClr val="bg1"/>
                  </a:solidFill>
                </a:rPr>
                <a:t>Prompt 3</a:t>
              </a:r>
            </a:p>
            <a:p>
              <a:pPr algn="ctr"/>
              <a:r>
                <a:rPr lang="en-IN" sz="800" dirty="0">
                  <a:solidFill>
                    <a:schemeClr val="bg1"/>
                  </a:solidFill>
                </a:rPr>
                <a:t>Dependency Analyzer</a:t>
              </a:r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E32F2552-EDE9-1A92-A1CA-340E71560397}"/>
                </a:ext>
              </a:extLst>
            </p:cNvPr>
            <p:cNvSpPr/>
            <p:nvPr/>
          </p:nvSpPr>
          <p:spPr>
            <a:xfrm>
              <a:off x="4725291" y="2340864"/>
              <a:ext cx="1188000" cy="324000"/>
            </a:xfrm>
            <a:prstGeom prst="roundRect">
              <a:avLst>
                <a:gd name="adj" fmla="val 11290"/>
              </a:avLst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IN" sz="800" dirty="0">
                  <a:solidFill>
                    <a:schemeClr val="bg1"/>
                  </a:solidFill>
                </a:rPr>
                <a:t>Prompt 4</a:t>
              </a:r>
            </a:p>
            <a:p>
              <a:pPr algn="ctr"/>
              <a:r>
                <a:rPr lang="en-IN" sz="800" dirty="0">
                  <a:solidFill>
                    <a:schemeClr val="bg1"/>
                  </a:solidFill>
                </a:rPr>
                <a:t>Migration Mapper</a:t>
              </a:r>
            </a:p>
          </p:txBody>
        </p:sp>
        <p:sp>
          <p:nvSpPr>
            <p:cNvPr id="51" name="Shape 24">
              <a:extLst>
                <a:ext uri="{FF2B5EF4-FFF2-40B4-BE49-F238E27FC236}">
                  <a16:creationId xmlns:a16="http://schemas.microsoft.com/office/drawing/2014/main" id="{29C0A969-B150-2528-0B9C-3D84A8582EF7}"/>
                </a:ext>
              </a:extLst>
            </p:cNvPr>
            <p:cNvSpPr/>
            <p:nvPr/>
          </p:nvSpPr>
          <p:spPr>
            <a:xfrm>
              <a:off x="5942319" y="2520864"/>
              <a:ext cx="182880" cy="0"/>
            </a:xfrm>
            <a:prstGeom prst="line">
              <a:avLst/>
            </a:prstGeom>
            <a:noFill/>
            <a:ln w="12700">
              <a:solidFill>
                <a:srgbClr val="534AB7"/>
              </a:solidFill>
              <a:prstDash val="solid"/>
              <a:tailEnd type="arrow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08C4CE36-5E16-D0D1-B779-FEF84904DC93}"/>
                </a:ext>
              </a:extLst>
            </p:cNvPr>
            <p:cNvSpPr/>
            <p:nvPr/>
          </p:nvSpPr>
          <p:spPr>
            <a:xfrm>
              <a:off x="6154227" y="2340864"/>
              <a:ext cx="1188000" cy="324000"/>
            </a:xfrm>
            <a:prstGeom prst="roundRect">
              <a:avLst>
                <a:gd name="adj" fmla="val 11290"/>
              </a:avLst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IN" sz="800" dirty="0">
                  <a:solidFill>
                    <a:schemeClr val="bg1"/>
                  </a:solidFill>
                </a:rPr>
                <a:t>Prompt 5</a:t>
              </a:r>
            </a:p>
            <a:p>
              <a:pPr algn="ctr"/>
              <a:r>
                <a:rPr lang="en-IN" sz="800" dirty="0">
                  <a:solidFill>
                    <a:schemeClr val="bg1"/>
                  </a:solidFill>
                </a:rPr>
                <a:t>Effort Estimator</a:t>
              </a:r>
            </a:p>
          </p:txBody>
        </p:sp>
        <p:sp>
          <p:nvSpPr>
            <p:cNvPr id="54" name="Shape 24">
              <a:extLst>
                <a:ext uri="{FF2B5EF4-FFF2-40B4-BE49-F238E27FC236}">
                  <a16:creationId xmlns:a16="http://schemas.microsoft.com/office/drawing/2014/main" id="{0FA7E193-9127-E762-87E7-17F4012134B9}"/>
                </a:ext>
              </a:extLst>
            </p:cNvPr>
            <p:cNvSpPr/>
            <p:nvPr/>
          </p:nvSpPr>
          <p:spPr>
            <a:xfrm>
              <a:off x="7354559" y="2520864"/>
              <a:ext cx="182880" cy="0"/>
            </a:xfrm>
            <a:prstGeom prst="line">
              <a:avLst/>
            </a:prstGeom>
            <a:noFill/>
            <a:ln w="12700">
              <a:solidFill>
                <a:srgbClr val="534AB7"/>
              </a:solidFill>
              <a:prstDash val="solid"/>
              <a:tailEnd type="arrow"/>
            </a:ln>
          </p:spPr>
          <p:txBody>
            <a:bodyPr/>
            <a:lstStyle/>
            <a:p>
              <a:endParaRPr lang="en-IN"/>
            </a:p>
          </p:txBody>
        </p:sp>
      </p:grp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DAE79252-D71E-E5E5-9C40-983658B35DF9}"/>
              </a:ext>
            </a:extLst>
          </p:cNvPr>
          <p:cNvCxnSpPr>
            <a:stCxn id="4" idx="2"/>
            <a:endCxn id="7" idx="0"/>
          </p:cNvCxnSpPr>
          <p:nvPr/>
        </p:nvCxnSpPr>
        <p:spPr>
          <a:xfrm>
            <a:off x="4484914" y="1281939"/>
            <a:ext cx="0" cy="254253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91087FD-6687-6027-35B4-7C2D2614FC32}"/>
              </a:ext>
            </a:extLst>
          </p:cNvPr>
          <p:cNvCxnSpPr/>
          <p:nvPr/>
        </p:nvCxnSpPr>
        <p:spPr>
          <a:xfrm>
            <a:off x="4470471" y="2010383"/>
            <a:ext cx="0" cy="2160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A534036-104E-ED4C-8951-7EF4227CE1DA}"/>
              </a:ext>
            </a:extLst>
          </p:cNvPr>
          <p:cNvCxnSpPr/>
          <p:nvPr/>
        </p:nvCxnSpPr>
        <p:spPr>
          <a:xfrm>
            <a:off x="4470471" y="2925330"/>
            <a:ext cx="0" cy="2160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6DFFB1F-85DB-84BD-EEFE-A8866AA925FD}"/>
              </a:ext>
            </a:extLst>
          </p:cNvPr>
          <p:cNvCxnSpPr/>
          <p:nvPr/>
        </p:nvCxnSpPr>
        <p:spPr>
          <a:xfrm>
            <a:off x="4502331" y="3708258"/>
            <a:ext cx="0" cy="2160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AE1FCAE1-83FC-1B41-CB15-1C0424FF6CEB}"/>
              </a:ext>
            </a:extLst>
          </p:cNvPr>
          <p:cNvCxnSpPr/>
          <p:nvPr/>
        </p:nvCxnSpPr>
        <p:spPr>
          <a:xfrm>
            <a:off x="4502331" y="4422797"/>
            <a:ext cx="0" cy="2160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-5661"/>
            <a:ext cx="9144000" cy="320041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RPA Migration Lifecycle</a:t>
            </a:r>
          </a:p>
        </p:txBody>
      </p:sp>
      <p:sp>
        <p:nvSpPr>
          <p:cNvPr id="3" name="Text 1"/>
          <p:cNvSpPr/>
          <p:nvPr/>
        </p:nvSpPr>
        <p:spPr>
          <a:xfrm>
            <a:off x="0" y="35112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Where the RPA Discovery Intelligence Platform fits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3306" y="925582"/>
            <a:ext cx="1080000" cy="540000"/>
          </a:xfrm>
          <a:prstGeom prst="roundRect">
            <a:avLst>
              <a:gd name="adj" fmla="val 11111"/>
            </a:avLst>
          </a:prstGeom>
          <a:solidFill>
            <a:schemeClr val="accent4">
              <a:lumMod val="50000"/>
            </a:schemeClr>
          </a:solidFill>
          <a:ln w="12700">
            <a:solidFill>
              <a:schemeClr val="accent4">
                <a:lumMod val="50000"/>
              </a:schemeClr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Explore</a:t>
            </a:r>
          </a:p>
          <a:p>
            <a:pPr algn="ctr"/>
            <a:r>
              <a:rPr lang="en-IN" sz="800" dirty="0">
                <a:solidFill>
                  <a:schemeClr val="bg1"/>
                </a:solidFill>
              </a:rPr>
              <a:t>Portfolio discovery</a:t>
            </a:r>
          </a:p>
        </p:txBody>
      </p:sp>
      <p:sp>
        <p:nvSpPr>
          <p:cNvPr id="23" name="Shape 21"/>
          <p:cNvSpPr/>
          <p:nvPr/>
        </p:nvSpPr>
        <p:spPr>
          <a:xfrm>
            <a:off x="365760" y="1831992"/>
            <a:ext cx="8412480" cy="475488"/>
          </a:xfrm>
          <a:prstGeom prst="roundRect">
            <a:avLst>
              <a:gd name="adj" fmla="val 19231"/>
            </a:avLst>
          </a:prstGeom>
          <a:solidFill>
            <a:schemeClr val="accent4">
              <a:lumMod val="50000"/>
            </a:schemeClr>
          </a:solidFill>
          <a:ln w="12700">
            <a:solidFill>
              <a:schemeClr val="accent4">
                <a:lumMod val="50000"/>
              </a:schemeClr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1841136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RPA Discovery Intelligence Platform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2435496"/>
            <a:ext cx="4133088" cy="731520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12700">
            <a:solidFill>
              <a:srgbClr val="0043C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93776" y="243230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4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Process Discovery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93776" y="2723460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.bprelease · Extracts processes, objects and environment variables from Blue prism release file and AI-generates process description and high-level process steps.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45152" y="2435496"/>
            <a:ext cx="4133088" cy="731520"/>
          </a:xfrm>
          <a:prstGeom prst="roundRect">
            <a:avLst>
              <a:gd name="adj" fmla="val 10000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F6E56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73168" y="243230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Assessment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73168" y="2670048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metric counting (5 key components) → workbook matrix → weighted score → Extra Simple to Extra Complex label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65760" y="3258456"/>
            <a:ext cx="4133088" cy="658368"/>
          </a:xfrm>
          <a:prstGeom prst="roundRect">
            <a:avLst>
              <a:gd name="adj" fmla="val 11111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534AB7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93776" y="325526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Analysis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3776" y="349300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all applications, files, databases &amp; APIs referenced by process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45152" y="3258456"/>
            <a:ext cx="4133088" cy="658368"/>
          </a:xfrm>
          <a:prstGeom prst="roundRect">
            <a:avLst>
              <a:gd name="adj" fmla="val 11111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993C1D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773168" y="3255264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93C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Mapping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73168" y="3493008"/>
            <a:ext cx="3877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Blue Prism components → Power Automate equivalents using a configurable mapping table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3989976"/>
            <a:ext cx="8412480" cy="658368"/>
          </a:xfrm>
          <a:prstGeom prst="roundRect">
            <a:avLst>
              <a:gd name="adj" fmla="val 11111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50000"/>
              </a:schemeClr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93776" y="3986784"/>
            <a:ext cx="8156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Estimation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3776" y="4224528"/>
            <a:ext cx="8156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complexity → hours / days / weeks across Development · SIT · UAT · Deployment · Documentation  —  driven by the configurable effort matrix</a:t>
            </a:r>
            <a:endParaRPr lang="en-US" sz="950" dirty="0"/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A0EF615B-CDBE-9046-9985-53E4BFC09CAB}"/>
              </a:ext>
            </a:extLst>
          </p:cNvPr>
          <p:cNvSpPr/>
          <p:nvPr/>
        </p:nvSpPr>
        <p:spPr>
          <a:xfrm>
            <a:off x="2210020" y="925582"/>
            <a:ext cx="1080000" cy="540000"/>
          </a:xfrm>
          <a:prstGeom prst="roundRect">
            <a:avLst>
              <a:gd name="adj" fmla="val 11111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Design</a:t>
            </a:r>
          </a:p>
          <a:p>
            <a:pPr algn="ctr"/>
            <a:r>
              <a:rPr lang="en-IN" sz="800" dirty="0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87107CA6-DEFB-E333-3FC9-FFC3D4EFF5E7}"/>
              </a:ext>
            </a:extLst>
          </p:cNvPr>
          <p:cNvSpPr/>
          <p:nvPr/>
        </p:nvSpPr>
        <p:spPr>
          <a:xfrm>
            <a:off x="3756734" y="927538"/>
            <a:ext cx="1080000" cy="540000"/>
          </a:xfrm>
          <a:prstGeom prst="roundRect">
            <a:avLst>
              <a:gd name="adj" fmla="val 11111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Build</a:t>
            </a:r>
          </a:p>
          <a:p>
            <a:pPr algn="ctr"/>
            <a:r>
              <a:rPr lang="en-IN" sz="800" dirty="0">
                <a:solidFill>
                  <a:schemeClr val="bg1"/>
                </a:solidFill>
              </a:rPr>
              <a:t>Development</a:t>
            </a:r>
          </a:p>
        </p:txBody>
      </p:sp>
      <p:sp>
        <p:nvSpPr>
          <p:cNvPr id="43" name="Shape 2">
            <a:extLst>
              <a:ext uri="{FF2B5EF4-FFF2-40B4-BE49-F238E27FC236}">
                <a16:creationId xmlns:a16="http://schemas.microsoft.com/office/drawing/2014/main" id="{781FBEDE-0C64-2010-375C-73844342A3F8}"/>
              </a:ext>
            </a:extLst>
          </p:cNvPr>
          <p:cNvSpPr/>
          <p:nvPr/>
        </p:nvSpPr>
        <p:spPr>
          <a:xfrm>
            <a:off x="6850162" y="937260"/>
            <a:ext cx="1080000" cy="540000"/>
          </a:xfrm>
          <a:prstGeom prst="roundRect">
            <a:avLst>
              <a:gd name="adj" fmla="val 11111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Test</a:t>
            </a:r>
          </a:p>
          <a:p>
            <a:pPr algn="ctr"/>
            <a:r>
              <a:rPr lang="en-IN" sz="800" dirty="0">
                <a:solidFill>
                  <a:schemeClr val="bg1"/>
                </a:solidFill>
              </a:rPr>
              <a:t>SIT / UAT</a:t>
            </a:r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5E64E7F0-1A4F-F60B-4864-EBAFBA34660C}"/>
              </a:ext>
            </a:extLst>
          </p:cNvPr>
          <p:cNvSpPr/>
          <p:nvPr/>
        </p:nvSpPr>
        <p:spPr>
          <a:xfrm>
            <a:off x="5303448" y="927538"/>
            <a:ext cx="1080000" cy="540000"/>
          </a:xfrm>
          <a:prstGeom prst="roundRect">
            <a:avLst>
              <a:gd name="adj" fmla="val 11111"/>
            </a:avLst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chemeClr val="tx2">
                <a:lumMod val="60000"/>
                <a:lumOff val="40000"/>
              </a:schemeClr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Deploy</a:t>
            </a:r>
          </a:p>
          <a:p>
            <a:pPr algn="ctr"/>
            <a:r>
              <a:rPr lang="en-IN" sz="800" dirty="0">
                <a:solidFill>
                  <a:schemeClr val="bg1"/>
                </a:solidFill>
              </a:rPr>
              <a:t>Go-Live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E37E65E-3658-A118-42B4-41FE66B89FC4}"/>
              </a:ext>
            </a:extLst>
          </p:cNvPr>
          <p:cNvCxnSpPr>
            <a:stCxn id="4" idx="3"/>
            <a:endCxn id="41" idx="1"/>
          </p:cNvCxnSpPr>
          <p:nvPr/>
        </p:nvCxnSpPr>
        <p:spPr>
          <a:xfrm>
            <a:off x="1743306" y="1195582"/>
            <a:ext cx="466714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0C61FC9-2CC3-01F1-7609-A755A63B333E}"/>
              </a:ext>
            </a:extLst>
          </p:cNvPr>
          <p:cNvCxnSpPr/>
          <p:nvPr/>
        </p:nvCxnSpPr>
        <p:spPr>
          <a:xfrm>
            <a:off x="3290020" y="1190899"/>
            <a:ext cx="466714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C811FDE-FF7B-FED8-F5F8-FB0D08F2C25D}"/>
              </a:ext>
            </a:extLst>
          </p:cNvPr>
          <p:cNvCxnSpPr/>
          <p:nvPr/>
        </p:nvCxnSpPr>
        <p:spPr>
          <a:xfrm>
            <a:off x="4836734" y="1207260"/>
            <a:ext cx="466714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281D292-90E3-595A-A59C-3908B5FC919A}"/>
              </a:ext>
            </a:extLst>
          </p:cNvPr>
          <p:cNvCxnSpPr/>
          <p:nvPr/>
        </p:nvCxnSpPr>
        <p:spPr>
          <a:xfrm>
            <a:off x="6383448" y="1207260"/>
            <a:ext cx="466714" cy="0"/>
          </a:xfrm>
          <a:prstGeom prst="straightConnector1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CDEB02B9-9B2F-6AEB-4339-3812D641B5D4}"/>
              </a:ext>
            </a:extLst>
          </p:cNvPr>
          <p:cNvCxnSpPr>
            <a:stCxn id="4" idx="2"/>
            <a:endCxn id="24" idx="0"/>
          </p:cNvCxnSpPr>
          <p:nvPr/>
        </p:nvCxnSpPr>
        <p:spPr>
          <a:xfrm rot="16200000" flipH="1">
            <a:off x="2704448" y="-35560"/>
            <a:ext cx="366410" cy="3368694"/>
          </a:xfrm>
          <a:prstGeom prst="bentConnector3">
            <a:avLst/>
          </a:prstGeom>
          <a:ln w="19050" cap="flat" cmpd="sng" algn="ctr">
            <a:solidFill>
              <a:schemeClr val="accent3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&amp; Downstream Impact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produces and how it feeds each subsequent phase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2651760" cy="1481328"/>
          </a:xfrm>
          <a:prstGeom prst="roundRect">
            <a:avLst>
              <a:gd name="adj" fmla="val 6173"/>
            </a:avLst>
          </a:prstGeom>
          <a:solidFill>
            <a:srgbClr val="EDF5FF"/>
          </a:solidFill>
          <a:ln w="12700">
            <a:solidFill>
              <a:srgbClr val="0043C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93776" y="10972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Process 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3776" y="140817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process description and step-by-step breakdown of each Blue Prism process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93776" y="2212848"/>
            <a:ext cx="2395728" cy="201168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93776" y="22128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Feeds: Design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46120" y="987552"/>
            <a:ext cx="2651760" cy="1481328"/>
          </a:xfrm>
          <a:prstGeom prst="roundRect">
            <a:avLst>
              <a:gd name="adj" fmla="val 6173"/>
            </a:avLst>
          </a:prstGeom>
          <a:solidFill>
            <a:srgbClr val="EDF5FF"/>
          </a:solidFill>
          <a:ln w="12700">
            <a:solidFill>
              <a:srgbClr val="0043C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74136" y="10972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Complexity rating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74136" y="140817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Workbook-calibrated label from Extra Simple to Extra Complex with metric rationale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74136" y="2212848"/>
            <a:ext cx="2395728" cy="201168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74136" y="22128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Feeds: Design · Build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26480" y="987552"/>
            <a:ext cx="2651760" cy="1481328"/>
          </a:xfrm>
          <a:prstGeom prst="roundRect">
            <a:avLst>
              <a:gd name="adj" fmla="val 6173"/>
            </a:avLst>
          </a:prstGeom>
          <a:solidFill>
            <a:srgbClr val="EDF5FF"/>
          </a:solidFill>
          <a:ln w="12700">
            <a:solidFill>
              <a:srgbClr val="0043C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254496" y="109728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Dependency map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54496" y="140817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list of applications, files, databases and APIs each process depends 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54496" y="2212848"/>
            <a:ext cx="2395728" cy="201168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54496" y="221284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Feeds: Design · Infrastructure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" y="2633472"/>
            <a:ext cx="2651760" cy="1481328"/>
          </a:xfrm>
          <a:prstGeom prst="roundRect">
            <a:avLst>
              <a:gd name="adj" fmla="val 6173"/>
            </a:avLst>
          </a:prstGeom>
          <a:solidFill>
            <a:srgbClr val="EDF5FF"/>
          </a:solidFill>
          <a:ln w="12700">
            <a:solidFill>
              <a:srgbClr val="0043C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93776" y="274320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Migration mapping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" y="305409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component → Power Automate equivalent with target architecture recommendation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776" y="3858768"/>
            <a:ext cx="2395728" cy="201168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93776" y="385876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Feeds: Build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46120" y="2633472"/>
            <a:ext cx="2651760" cy="1481328"/>
          </a:xfrm>
          <a:prstGeom prst="roundRect">
            <a:avLst>
              <a:gd name="adj" fmla="val 6173"/>
            </a:avLst>
          </a:prstGeom>
          <a:solidFill>
            <a:srgbClr val="EDF5FF"/>
          </a:solidFill>
          <a:ln w="12700">
            <a:solidFill>
              <a:srgbClr val="0043C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374136" y="274320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Effort estimate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74136" y="305409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Hours, days and weeks per activity — development, SIT, UAT, deployment, documentation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374136" y="3858768"/>
            <a:ext cx="2395728" cy="201168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374136" y="385876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Feeds: All phases · Commercial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26480" y="2633472"/>
            <a:ext cx="2651760" cy="1481328"/>
          </a:xfrm>
          <a:prstGeom prst="roundRect">
            <a:avLst>
              <a:gd name="adj" fmla="val 6173"/>
            </a:avLst>
          </a:prstGeom>
          <a:solidFill>
            <a:srgbClr val="EDF5FF"/>
          </a:solidFill>
          <a:ln w="12700">
            <a:solidFill>
              <a:srgbClr val="0043CE"/>
            </a:solidFill>
            <a:prstDash val="solid"/>
          </a:ln>
          <a:effectLst>
            <a:outerShdw blurRad="635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54496" y="2743200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Excel report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54496" y="3054096"/>
            <a:ext cx="23957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Multi-sheet downloadable report for stakeholder sign-off and audit trail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54496" y="3858768"/>
            <a:ext cx="2395728" cy="201168"/>
          </a:xfrm>
          <a:prstGeom prst="roundRect">
            <a:avLst>
              <a:gd name="adj" fmla="val 2272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54496" y="385876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Feeds: Governance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65760" y="4809744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are available in the in-app dashboard and as a downloadable Excel migration assessment report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451</Words>
  <Application>Microsoft Office PowerPoint</Application>
  <PresentationFormat>On-screen Show (16:9)</PresentationFormat>
  <Paragraphs>85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RPA Discovery Intelligence Platform</dc:title>
  <dc:subject>PptxGenJS Presentation</dc:subject>
  <dc:creator>IBM Consulting</dc:creator>
  <cp:lastModifiedBy>Murugan M</cp:lastModifiedBy>
  <cp:revision>4</cp:revision>
  <dcterms:created xsi:type="dcterms:W3CDTF">2026-06-10T09:02:49Z</dcterms:created>
  <dcterms:modified xsi:type="dcterms:W3CDTF">2026-06-10T09:51:40Z</dcterms:modified>
</cp:coreProperties>
</file>